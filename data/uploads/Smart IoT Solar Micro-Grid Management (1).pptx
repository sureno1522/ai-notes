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6858000" cx="12192000"/>
  <p:notesSz cx="6858000" cy="9144000"/>
  <p:embeddedFontLst>
    <p:embeddedFont>
      <p:font typeface="Inter SemiBold"/>
      <p:regular r:id="rId20"/>
      <p:bold r:id="rId21"/>
      <p:italic r:id="rId22"/>
      <p:boldItalic r:id="rId23"/>
    </p:embeddedFont>
    <p:embeddedFont>
      <p:font typeface="Inter"/>
      <p:regular r:id="rId24"/>
      <p:bold r:id="rId25"/>
      <p:italic r:id="rId26"/>
      <p:boldItalic r:id="rId27"/>
    </p:embeddedFont>
    <p:embeddedFont>
      <p:font typeface="Poppins"/>
      <p:regular r:id="rId28"/>
      <p:bold r:id="rId29"/>
      <p:italic r:id="rId30"/>
      <p:boldItalic r:id="rId31"/>
    </p:embeddedFont>
    <p:embeddedFont>
      <p:font typeface="Poppins SemiBold"/>
      <p:regular r:id="rId32"/>
      <p:bold r:id="rId33"/>
      <p:italic r:id="rId34"/>
      <p:boldItalic r:id="rId35"/>
    </p:embeddedFont>
    <p:embeddedFont>
      <p:font typeface="Inter Medium"/>
      <p:regular r:id="rId36"/>
      <p:bold r:id="rId37"/>
      <p:italic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85297F3-956D-4B36-84CD-5709E217C368}">
  <a:tblStyle styleId="{485297F3-956D-4B36-84CD-5709E217C368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SemiBold-regular.fntdata"/><Relationship Id="rId22" Type="http://schemas.openxmlformats.org/officeDocument/2006/relationships/font" Target="fonts/InterSemiBold-italic.fntdata"/><Relationship Id="rId21" Type="http://schemas.openxmlformats.org/officeDocument/2006/relationships/font" Target="fonts/InterSemiBold-bold.fntdata"/><Relationship Id="rId24" Type="http://schemas.openxmlformats.org/officeDocument/2006/relationships/font" Target="fonts/Inter-regular.fntdata"/><Relationship Id="rId23" Type="http://schemas.openxmlformats.org/officeDocument/2006/relationships/font" Target="fonts/InterSemiBold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Inter-italic.fntdata"/><Relationship Id="rId25" Type="http://schemas.openxmlformats.org/officeDocument/2006/relationships/font" Target="fonts/Inter-bold.fntdata"/><Relationship Id="rId28" Type="http://schemas.openxmlformats.org/officeDocument/2006/relationships/font" Target="fonts/Poppins-regular.fntdata"/><Relationship Id="rId27" Type="http://schemas.openxmlformats.org/officeDocument/2006/relationships/font" Target="fonts/Inter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Poppins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Poppins-boldItalic.fntdata"/><Relationship Id="rId30" Type="http://schemas.openxmlformats.org/officeDocument/2006/relationships/font" Target="fonts/Poppins-italic.fntdata"/><Relationship Id="rId11" Type="http://schemas.openxmlformats.org/officeDocument/2006/relationships/slide" Target="slides/slide5.xml"/><Relationship Id="rId33" Type="http://schemas.openxmlformats.org/officeDocument/2006/relationships/font" Target="fonts/PoppinsSemiBold-bold.fntdata"/><Relationship Id="rId10" Type="http://schemas.openxmlformats.org/officeDocument/2006/relationships/slide" Target="slides/slide4.xml"/><Relationship Id="rId32" Type="http://schemas.openxmlformats.org/officeDocument/2006/relationships/font" Target="fonts/PoppinsSemiBold-regular.fntdata"/><Relationship Id="rId13" Type="http://schemas.openxmlformats.org/officeDocument/2006/relationships/slide" Target="slides/slide7.xml"/><Relationship Id="rId35" Type="http://schemas.openxmlformats.org/officeDocument/2006/relationships/font" Target="fonts/PoppinsSemiBold-boldItalic.fntdata"/><Relationship Id="rId12" Type="http://schemas.openxmlformats.org/officeDocument/2006/relationships/slide" Target="slides/slide6.xml"/><Relationship Id="rId34" Type="http://schemas.openxmlformats.org/officeDocument/2006/relationships/font" Target="fonts/PoppinsSemiBold-italic.fntdata"/><Relationship Id="rId15" Type="http://schemas.openxmlformats.org/officeDocument/2006/relationships/slide" Target="slides/slide9.xml"/><Relationship Id="rId37" Type="http://schemas.openxmlformats.org/officeDocument/2006/relationships/font" Target="fonts/InterMedium-bold.fntdata"/><Relationship Id="rId14" Type="http://schemas.openxmlformats.org/officeDocument/2006/relationships/slide" Target="slides/slide8.xml"/><Relationship Id="rId36" Type="http://schemas.openxmlformats.org/officeDocument/2006/relationships/font" Target="fonts/InterMedium-regular.fntdata"/><Relationship Id="rId17" Type="http://schemas.openxmlformats.org/officeDocument/2006/relationships/slide" Target="slides/slide11.xml"/><Relationship Id="rId39" Type="http://schemas.openxmlformats.org/officeDocument/2006/relationships/font" Target="fonts/InterMedium-boldItalic.fntdata"/><Relationship Id="rId16" Type="http://schemas.openxmlformats.org/officeDocument/2006/relationships/slide" Target="slides/slide10.xml"/><Relationship Id="rId38" Type="http://schemas.openxmlformats.org/officeDocument/2006/relationships/font" Target="fonts/InterMedium-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762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9486900" y="6410325"/>
            <a:ext cx="21336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ACADEMIC PROJECT 2026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1735455" y="2117377"/>
            <a:ext cx="8721090" cy="18515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Smart IoT-Based Demand-Side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0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 Load Management and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05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Voltage Stabilizer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1943100" y="4254698"/>
            <a:ext cx="83058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For Solar-Powered Micro-Grids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571750"/>
            <a:ext cx="5238750" cy="2638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1750" y="2571750"/>
            <a:ext cx="5238750" cy="2638425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762000" y="571500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Problem Statement: Cause &amp; Crisis</a:t>
            </a:r>
            <a:endParaRPr/>
          </a:p>
        </p:txBody>
      </p:sp>
      <p:sp>
        <p:nvSpPr>
          <p:cNvPr id="95" name="Google Shape;95;p14"/>
          <p:cNvSpPr/>
          <p:nvPr/>
        </p:nvSpPr>
        <p:spPr>
          <a:xfrm>
            <a:off x="571500" y="571500"/>
            <a:ext cx="95250" cy="5429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952500" y="3000375"/>
            <a:ext cx="470058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0B98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The Cause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952500" y="3543300"/>
            <a:ext cx="44767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When clouds block the sun, solar panel voltage suddenly drops, leading to an immediate deficit in energy generation within the micro-grid ecosystem.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6762750" y="3000375"/>
            <a:ext cx="470058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0B98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The Crisis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6762750" y="3543300"/>
            <a:ext cx="44767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Heavy appliances (like ACs or Fridges) keep running and try to pull more power than is available, creating a massive power spike that crashes the local grid.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4" name="Google Shape;10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571750"/>
            <a:ext cx="5238750" cy="2638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1750" y="2571750"/>
            <a:ext cx="5238750" cy="2638425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5"/>
          <p:cNvSpPr txBox="1"/>
          <p:nvPr/>
        </p:nvSpPr>
        <p:spPr>
          <a:xfrm>
            <a:off x="762000" y="571500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Problem Statement: Flaw &amp; Impact</a:t>
            </a:r>
            <a:endParaRPr/>
          </a:p>
        </p:txBody>
      </p:sp>
      <p:sp>
        <p:nvSpPr>
          <p:cNvPr id="107" name="Google Shape;107;p15"/>
          <p:cNvSpPr/>
          <p:nvPr/>
        </p:nvSpPr>
        <p:spPr>
          <a:xfrm>
            <a:off x="571500" y="571500"/>
            <a:ext cx="95250" cy="5429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5"/>
          <p:cNvSpPr txBox="1"/>
          <p:nvPr/>
        </p:nvSpPr>
        <p:spPr>
          <a:xfrm>
            <a:off x="952500" y="3000375"/>
            <a:ext cx="470058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0B98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The Flaw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952500" y="3543300"/>
            <a:ext cx="44767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Current inverters and stabilizers are "dumb"—they operate on an all-or-nothing basis. They shut down the entire house indiscriminately, plunging you into a total blackout.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6762750" y="3000375"/>
            <a:ext cx="470058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0B98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The Impact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6762750" y="3543300"/>
            <a:ext cx="44767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You lose power to critical, low-power devices (like your laptop, Wi-Fi router, or main fan) that could easily have stayed on with the remaining solar energy.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6" name="Google Shape;11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6"/>
          <p:cNvSpPr/>
          <p:nvPr/>
        </p:nvSpPr>
        <p:spPr>
          <a:xfrm>
            <a:off x="5619750" y="2443162"/>
            <a:ext cx="952500" cy="476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6"/>
          <p:cNvSpPr txBox="1"/>
          <p:nvPr/>
        </p:nvSpPr>
        <p:spPr>
          <a:xfrm>
            <a:off x="3425666" y="2681287"/>
            <a:ext cx="5340667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Project Abstract</a:t>
            </a:r>
            <a:endParaRPr/>
          </a:p>
        </p:txBody>
      </p:sp>
      <p:sp>
        <p:nvSpPr>
          <p:cNvPr id="119" name="Google Shape;119;p16"/>
          <p:cNvSpPr txBox="1"/>
          <p:nvPr/>
        </p:nvSpPr>
        <p:spPr>
          <a:xfrm>
            <a:off x="2762250" y="3776662"/>
            <a:ext cx="6667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 Comprehensive Overview of the Proposed Solution Architecture and Objectives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4" name="Google Shape;12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1750" y="2182117"/>
            <a:ext cx="5238750" cy="341754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7"/>
          <p:cNvSpPr txBox="1"/>
          <p:nvPr/>
        </p:nvSpPr>
        <p:spPr>
          <a:xfrm>
            <a:off x="762000" y="571500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The Challenge of Voltage Sag</a:t>
            </a:r>
            <a:endParaRPr/>
          </a:p>
        </p:txBody>
      </p:sp>
      <p:sp>
        <p:nvSpPr>
          <p:cNvPr id="126" name="Google Shape;126;p17"/>
          <p:cNvSpPr/>
          <p:nvPr/>
        </p:nvSpPr>
        <p:spPr>
          <a:xfrm>
            <a:off x="571500" y="571500"/>
            <a:ext cx="95250" cy="5429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7"/>
          <p:cNvSpPr txBox="1"/>
          <p:nvPr/>
        </p:nvSpPr>
        <p:spPr>
          <a:xfrm>
            <a:off x="571500" y="2182117"/>
            <a:ext cx="5238750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Residential solar micro-grids suffer from acute voltage instability caused by the unpredictable, intermittent nature of solar irradiance.</a:t>
            </a:r>
            <a:endParaRPr/>
          </a:p>
        </p:txBody>
      </p:sp>
      <p:sp>
        <p:nvSpPr>
          <p:cNvPr id="128" name="Google Shape;128;p17"/>
          <p:cNvSpPr txBox="1"/>
          <p:nvPr/>
        </p:nvSpPr>
        <p:spPr>
          <a:xfrm>
            <a:off x="571500" y="3267967"/>
            <a:ext cx="5238750" cy="12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During ambient voltage sags, standard consumer inverters react with primitive binary protection, shutting down power to an entire household indiscriminately and causing avoidable blackouts.</a:t>
            </a:r>
            <a:endParaRPr/>
          </a:p>
        </p:txBody>
      </p:sp>
      <p:pic>
        <p:nvPicPr>
          <p:cNvPr descr="image.png" id="129" name="Google Shape;12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91275" y="2191642"/>
            <a:ext cx="5219700" cy="3398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4" name="Google Shape;13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213544"/>
            <a:ext cx="5238750" cy="5354984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8"/>
          <p:cNvSpPr txBox="1"/>
          <p:nvPr/>
        </p:nvSpPr>
        <p:spPr>
          <a:xfrm>
            <a:off x="762000" y="289619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The Proposed Smart Solution</a:t>
            </a:r>
            <a:endParaRPr/>
          </a:p>
        </p:txBody>
      </p:sp>
      <p:sp>
        <p:nvSpPr>
          <p:cNvPr id="136" name="Google Shape;136;p18"/>
          <p:cNvSpPr/>
          <p:nvPr/>
        </p:nvSpPr>
        <p:spPr>
          <a:xfrm>
            <a:off x="571500" y="289619"/>
            <a:ext cx="95250" cy="5429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37" name="Google Shape;13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223069"/>
            <a:ext cx="5219700" cy="5335934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8"/>
          <p:cNvSpPr txBox="1"/>
          <p:nvPr/>
        </p:nvSpPr>
        <p:spPr>
          <a:xfrm>
            <a:off x="6381750" y="1213544"/>
            <a:ext cx="5238750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This project delivers a low-cost, real-time edge computing solution that dynamically manages demand.</a:t>
            </a:r>
            <a:endParaRPr/>
          </a:p>
        </p:txBody>
      </p:sp>
      <p:sp>
        <p:nvSpPr>
          <p:cNvPr id="139" name="Google Shape;139;p18"/>
          <p:cNvSpPr txBox="1"/>
          <p:nvPr/>
        </p:nvSpPr>
        <p:spPr>
          <a:xfrm>
            <a:off x="6381750" y="2299394"/>
            <a:ext cx="5238750" cy="12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By proactively shedding non-essential appliances within milliseconds while continuously powering critical assets, the system effectively prevents total grid collapse and achieves net-zero power wastage.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9"/>
          <p:cNvSpPr txBox="1"/>
          <p:nvPr/>
        </p:nvSpPr>
        <p:spPr>
          <a:xfrm>
            <a:off x="762000" y="571500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Technical Stack Matrix</a:t>
            </a:r>
            <a:endParaRPr/>
          </a:p>
        </p:txBody>
      </p:sp>
      <p:sp>
        <p:nvSpPr>
          <p:cNvPr id="145" name="Google Shape;145;p19"/>
          <p:cNvSpPr/>
          <p:nvPr/>
        </p:nvSpPr>
        <p:spPr>
          <a:xfrm>
            <a:off x="571500" y="571500"/>
            <a:ext cx="95250" cy="5429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46" name="Google Shape;146;p19"/>
          <p:cNvGraphicFramePr/>
          <p:nvPr/>
        </p:nvGraphicFramePr>
        <p:xfrm>
          <a:off x="571500" y="23050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{485297F3-956D-4B36-84CD-5709E217C368}</a:tableStyleId>
              </a:tblPr>
              <a:tblGrid>
                <a:gridCol w="2207875"/>
                <a:gridCol w="2759875"/>
                <a:gridCol w="6071750"/>
              </a:tblGrid>
              <a:tr h="528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FFFFF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Layer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FFFFF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Selection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FFFFF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Core Function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528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Edge Computing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ESP32 WROOM-32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Executes local priority tiering algorithms and native wireless stacks.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8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Sensing Elements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ZMPT101B &amp; ACS712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Continuous millisecond-level telemetry polling of AC voltage &amp; load current.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528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Physical Switching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4-Channel Relay Mod.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Opto-isolated mechanical isolation to safely break high-voltage lines.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8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Hysteresis Guard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Schmitt Trigger Circuit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Introduces dedicated voltage thresholds to eliminate relay chattering.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52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Cloud UI Framework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Blynk IoT v2.0 Cloud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Real-time user data streaming, metrics logging, and manual override app.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7" name="Google Shape;147;p19"/>
          <p:cNvSpPr/>
          <p:nvPr/>
        </p:nvSpPr>
        <p:spPr>
          <a:xfrm>
            <a:off x="576262" y="3367087"/>
            <a:ext cx="220786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9"/>
          <p:cNvSpPr/>
          <p:nvPr/>
        </p:nvSpPr>
        <p:spPr>
          <a:xfrm>
            <a:off x="2784127" y="3367087"/>
            <a:ext cx="275986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/>
          <p:cNvSpPr/>
          <p:nvPr/>
        </p:nvSpPr>
        <p:spPr>
          <a:xfrm>
            <a:off x="5543996" y="3367087"/>
            <a:ext cx="607174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9"/>
          <p:cNvSpPr/>
          <p:nvPr/>
        </p:nvSpPr>
        <p:spPr>
          <a:xfrm>
            <a:off x="576262" y="3890962"/>
            <a:ext cx="220786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9"/>
          <p:cNvSpPr/>
          <p:nvPr/>
        </p:nvSpPr>
        <p:spPr>
          <a:xfrm>
            <a:off x="2784127" y="3890962"/>
            <a:ext cx="275986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9"/>
          <p:cNvSpPr/>
          <p:nvPr/>
        </p:nvSpPr>
        <p:spPr>
          <a:xfrm>
            <a:off x="5543996" y="3890962"/>
            <a:ext cx="607174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9"/>
          <p:cNvSpPr/>
          <p:nvPr/>
        </p:nvSpPr>
        <p:spPr>
          <a:xfrm>
            <a:off x="576262" y="4414837"/>
            <a:ext cx="220786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9"/>
          <p:cNvSpPr/>
          <p:nvPr/>
        </p:nvSpPr>
        <p:spPr>
          <a:xfrm>
            <a:off x="2784127" y="4414837"/>
            <a:ext cx="275986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9"/>
          <p:cNvSpPr/>
          <p:nvPr/>
        </p:nvSpPr>
        <p:spPr>
          <a:xfrm>
            <a:off x="5543996" y="4414837"/>
            <a:ext cx="607174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9"/>
          <p:cNvSpPr/>
          <p:nvPr/>
        </p:nvSpPr>
        <p:spPr>
          <a:xfrm>
            <a:off x="576262" y="4938712"/>
            <a:ext cx="220786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9"/>
          <p:cNvSpPr/>
          <p:nvPr/>
        </p:nvSpPr>
        <p:spPr>
          <a:xfrm>
            <a:off x="2784127" y="4938712"/>
            <a:ext cx="275986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9"/>
          <p:cNvSpPr/>
          <p:nvPr/>
        </p:nvSpPr>
        <p:spPr>
          <a:xfrm>
            <a:off x="5543996" y="4938712"/>
            <a:ext cx="607174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9"/>
          <p:cNvSpPr/>
          <p:nvPr/>
        </p:nvSpPr>
        <p:spPr>
          <a:xfrm>
            <a:off x="576262" y="5462587"/>
            <a:ext cx="220786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9"/>
          <p:cNvSpPr/>
          <p:nvPr/>
        </p:nvSpPr>
        <p:spPr>
          <a:xfrm>
            <a:off x="2784127" y="5462587"/>
            <a:ext cx="275986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9"/>
          <p:cNvSpPr/>
          <p:nvPr/>
        </p:nvSpPr>
        <p:spPr>
          <a:xfrm>
            <a:off x="5543996" y="5462587"/>
            <a:ext cx="607174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6" name="Google Shape;16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0"/>
          <p:cNvSpPr/>
          <p:nvPr/>
        </p:nvSpPr>
        <p:spPr>
          <a:xfrm>
            <a:off x="5619750" y="2614612"/>
            <a:ext cx="952500" cy="476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20"/>
          <p:cNvSpPr txBox="1"/>
          <p:nvPr/>
        </p:nvSpPr>
        <p:spPr>
          <a:xfrm>
            <a:off x="3605688" y="2852737"/>
            <a:ext cx="4980622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Project Novelty</a:t>
            </a:r>
            <a:endParaRPr/>
          </a:p>
        </p:txBody>
      </p:sp>
      <p:sp>
        <p:nvSpPr>
          <p:cNvPr id="169" name="Google Shape;169;p20"/>
          <p:cNvSpPr txBox="1"/>
          <p:nvPr/>
        </p:nvSpPr>
        <p:spPr>
          <a:xfrm>
            <a:off x="3233737" y="3948112"/>
            <a:ext cx="572452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Competitive Advantages and Scientific Contributions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1"/>
          <p:cNvSpPr txBox="1"/>
          <p:nvPr/>
        </p:nvSpPr>
        <p:spPr>
          <a:xfrm>
            <a:off x="571500" y="2009775"/>
            <a:ext cx="52006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Edge vs. Cloud Latency</a:t>
            </a:r>
            <a:endParaRPr/>
          </a:p>
        </p:txBody>
      </p:sp>
      <p:sp>
        <p:nvSpPr>
          <p:cNvPr id="175" name="Google Shape;175;p21"/>
          <p:cNvSpPr txBox="1"/>
          <p:nvPr/>
        </p:nvSpPr>
        <p:spPr>
          <a:xfrm>
            <a:off x="571500" y="2847975"/>
            <a:ext cx="4953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Traditional systems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use slow remote servers (seconds delay) for computational optimization.</a:t>
            </a:r>
            <a:endParaRPr/>
          </a:p>
        </p:txBody>
      </p:sp>
      <p:sp>
        <p:nvSpPr>
          <p:cNvPr id="176" name="Google Shape;176;p21"/>
          <p:cNvSpPr txBox="1"/>
          <p:nvPr/>
        </p:nvSpPr>
        <p:spPr>
          <a:xfrm>
            <a:off x="571500" y="3562350"/>
            <a:ext cx="4953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Our system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executes the priority allocation algorithm directly on-chip at the edge, responding within milliseconds to disconnect loads before a breaker trips.</a:t>
            </a:r>
            <a:endParaRPr/>
          </a:p>
        </p:txBody>
      </p:sp>
      <p:pic>
        <p:nvPicPr>
          <p:cNvPr descr="image.png" id="177" name="Google Shape;17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2" name="Google Shape;18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1750" y="779412"/>
            <a:ext cx="5238750" cy="6223099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2"/>
          <p:cNvSpPr txBox="1"/>
          <p:nvPr/>
        </p:nvSpPr>
        <p:spPr>
          <a:xfrm>
            <a:off x="762000" y="-144512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Granular Graceful Degradation</a:t>
            </a:r>
            <a:endParaRPr/>
          </a:p>
        </p:txBody>
      </p:sp>
      <p:sp>
        <p:nvSpPr>
          <p:cNvPr id="184" name="Google Shape;184;p22"/>
          <p:cNvSpPr/>
          <p:nvPr/>
        </p:nvSpPr>
        <p:spPr>
          <a:xfrm>
            <a:off x="571500" y="-144512"/>
            <a:ext cx="95250" cy="5429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2"/>
          <p:cNvSpPr txBox="1"/>
          <p:nvPr/>
        </p:nvSpPr>
        <p:spPr>
          <a:xfrm>
            <a:off x="571500" y="779412"/>
            <a:ext cx="5238750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Instead of performing blind wholesale shutdowns or total blackouts, this architecture treats electricity as an allocatable asset.</a:t>
            </a:r>
            <a:endParaRPr/>
          </a:p>
        </p:txBody>
      </p:sp>
      <p:sp>
        <p:nvSpPr>
          <p:cNvPr id="186" name="Google Shape;186;p22"/>
          <p:cNvSpPr txBox="1"/>
          <p:nvPr/>
        </p:nvSpPr>
        <p:spPr>
          <a:xfrm>
            <a:off x="571500" y="1865262"/>
            <a:ext cx="5238750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The system strategically sacrifices non-essential comfort to maintain critical workflow continuity during energy deficits.</a:t>
            </a:r>
            <a:endParaRPr/>
          </a:p>
        </p:txBody>
      </p:sp>
      <p:pic>
        <p:nvPicPr>
          <p:cNvPr descr="image.png" id="187" name="Google Shape;187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91275" y="788937"/>
            <a:ext cx="5219700" cy="6204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3"/>
          <p:cNvSpPr txBox="1"/>
          <p:nvPr/>
        </p:nvSpPr>
        <p:spPr>
          <a:xfrm>
            <a:off x="762000" y="571500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Hyper-Localized Cost Efficacy</a:t>
            </a:r>
            <a:endParaRPr/>
          </a:p>
        </p:txBody>
      </p:sp>
      <p:sp>
        <p:nvSpPr>
          <p:cNvPr id="193" name="Google Shape;193;p23"/>
          <p:cNvSpPr/>
          <p:nvPr/>
        </p:nvSpPr>
        <p:spPr>
          <a:xfrm>
            <a:off x="571500" y="571500"/>
            <a:ext cx="95250" cy="5429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3"/>
          <p:cNvSpPr txBox="1"/>
          <p:nvPr/>
        </p:nvSpPr>
        <p:spPr>
          <a:xfrm>
            <a:off x="1809750" y="3086100"/>
            <a:ext cx="276225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0" u="none" cap="none" strike="noStrike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~1%</a:t>
            </a:r>
            <a:endParaRPr/>
          </a:p>
        </p:txBody>
      </p:sp>
      <p:sp>
        <p:nvSpPr>
          <p:cNvPr id="195" name="Google Shape;195;p23"/>
          <p:cNvSpPr txBox="1"/>
          <p:nvPr/>
        </p:nvSpPr>
        <p:spPr>
          <a:xfrm>
            <a:off x="1819275" y="4419600"/>
            <a:ext cx="27432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of Industrial System Cost</a:t>
            </a:r>
            <a:endParaRPr/>
          </a:p>
        </p:txBody>
      </p:sp>
      <p:sp>
        <p:nvSpPr>
          <p:cNvPr id="196" name="Google Shape;196;p23"/>
          <p:cNvSpPr txBox="1"/>
          <p:nvPr/>
        </p:nvSpPr>
        <p:spPr>
          <a:xfrm>
            <a:off x="6715125" y="2533650"/>
            <a:ext cx="49053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Eliminates the need for expensive industrial SCADA software.</a:t>
            </a:r>
            <a:endParaRPr/>
          </a:p>
        </p:txBody>
      </p:sp>
      <p:sp>
        <p:nvSpPr>
          <p:cNvPr id="197" name="Google Shape;197;p23"/>
          <p:cNvSpPr txBox="1"/>
          <p:nvPr/>
        </p:nvSpPr>
        <p:spPr>
          <a:xfrm>
            <a:off x="6715125" y="3248025"/>
            <a:ext cx="49053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Removes the requirement for multi-lakh smart meters.</a:t>
            </a:r>
            <a:endParaRPr/>
          </a:p>
        </p:txBody>
      </p:sp>
      <p:sp>
        <p:nvSpPr>
          <p:cNvPr id="198" name="Google Shape;198;p23"/>
          <p:cNvSpPr txBox="1"/>
          <p:nvPr/>
        </p:nvSpPr>
        <p:spPr>
          <a:xfrm>
            <a:off x="6715125" y="3962400"/>
            <a:ext cx="49053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Delivers advanced grid resilience via consumer-level components.</a:t>
            </a:r>
            <a:endParaRPr/>
          </a:p>
        </p:txBody>
      </p:sp>
      <p:sp>
        <p:nvSpPr>
          <p:cNvPr id="199" name="Google Shape;199;p23"/>
          <p:cNvSpPr txBox="1"/>
          <p:nvPr/>
        </p:nvSpPr>
        <p:spPr>
          <a:xfrm>
            <a:off x="6715125" y="4676775"/>
            <a:ext cx="49053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Ideal for residential and micro-community deployments.</a:t>
            </a:r>
            <a:endParaRPr/>
          </a:p>
        </p:txBody>
      </p:sp>
      <p:pic>
        <p:nvPicPr>
          <p:cNvPr descr="image.png" id="200" name="Google Shape;20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1750" y="257651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1" name="Google Shape;20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1750" y="329088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2" name="Google Shape;20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1750" y="400526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3" name="Google Shape;20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1750" y="4719637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8" name="Google Shape;20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00687" y="1676400"/>
            <a:ext cx="1190625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4"/>
          <p:cNvSpPr txBox="1"/>
          <p:nvPr/>
        </p:nvSpPr>
        <p:spPr>
          <a:xfrm>
            <a:off x="4035742" y="3009900"/>
            <a:ext cx="412051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Questions?</a:t>
            </a:r>
            <a:endParaRPr/>
          </a:p>
        </p:txBody>
      </p:sp>
      <p:sp>
        <p:nvSpPr>
          <p:cNvPr id="210" name="Google Shape;210;p24"/>
          <p:cNvSpPr txBox="1"/>
          <p:nvPr/>
        </p:nvSpPr>
        <p:spPr>
          <a:xfrm>
            <a:off x="4133850" y="4057650"/>
            <a:ext cx="39243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Thank you for your attention.</a:t>
            </a:r>
            <a:endParaRPr/>
          </a:p>
        </p:txBody>
      </p:sp>
      <p:sp>
        <p:nvSpPr>
          <p:cNvPr id="211" name="Google Shape;211;p24"/>
          <p:cNvSpPr txBox="1"/>
          <p:nvPr/>
        </p:nvSpPr>
        <p:spPr>
          <a:xfrm>
            <a:off x="4133850" y="4781550"/>
            <a:ext cx="39243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Smart IoT Solar Micro-Grid Management Project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5"/>
          <p:cNvSpPr txBox="1"/>
          <p:nvPr/>
        </p:nvSpPr>
        <p:spPr>
          <a:xfrm>
            <a:off x="762000" y="571500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Image Sources</a:t>
            </a:r>
            <a:endParaRPr/>
          </a:p>
        </p:txBody>
      </p:sp>
      <p:sp>
        <p:nvSpPr>
          <p:cNvPr id="217" name="Google Shape;217;p25"/>
          <p:cNvSpPr/>
          <p:nvPr/>
        </p:nvSpPr>
        <p:spPr>
          <a:xfrm>
            <a:off x="571500" y="571500"/>
            <a:ext cx="95250" cy="5429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5"/>
          <p:cNvSpPr/>
          <p:nvPr/>
        </p:nvSpPr>
        <p:spPr>
          <a:xfrm>
            <a:off x="571500" y="2181225"/>
            <a:ext cx="11049000" cy="942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5"/>
          <p:cNvSpPr/>
          <p:nvPr/>
        </p:nvSpPr>
        <p:spPr>
          <a:xfrm>
            <a:off x="571500" y="3124200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5"/>
          <p:cNvSpPr/>
          <p:nvPr/>
        </p:nvSpPr>
        <p:spPr>
          <a:xfrm>
            <a:off x="571500" y="3895725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5"/>
          <p:cNvSpPr/>
          <p:nvPr/>
        </p:nvSpPr>
        <p:spPr>
          <a:xfrm>
            <a:off x="571500" y="31146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5"/>
          <p:cNvSpPr/>
          <p:nvPr/>
        </p:nvSpPr>
        <p:spPr>
          <a:xfrm>
            <a:off x="571500" y="31146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5"/>
          <p:cNvSpPr/>
          <p:nvPr/>
        </p:nvSpPr>
        <p:spPr>
          <a:xfrm>
            <a:off x="571500" y="38862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5"/>
          <p:cNvSpPr/>
          <p:nvPr/>
        </p:nvSpPr>
        <p:spPr>
          <a:xfrm>
            <a:off x="571500" y="38862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5"/>
          <p:cNvSpPr/>
          <p:nvPr/>
        </p:nvSpPr>
        <p:spPr>
          <a:xfrm>
            <a:off x="571500" y="46577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5"/>
          <p:cNvSpPr/>
          <p:nvPr/>
        </p:nvSpPr>
        <p:spPr>
          <a:xfrm>
            <a:off x="571500" y="46577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27" name="Google Shape;227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40982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5"/>
          <p:cNvSpPr txBox="1"/>
          <p:nvPr/>
        </p:nvSpPr>
        <p:spPr>
          <a:xfrm>
            <a:off x="1666875" y="2324100"/>
            <a:ext cx="995362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https://media.istockphoto.com/id/1315903471/photo/solar-panel-installer-installing-solar-panels-on-roof-of-modern-house.jpg?s=612x612&amp;w=0&amp;k=20&amp;c=r0TErPI11OqMUXEOtCjPT0-o4v06CH6s1bt14hwTPvc=</a:t>
            </a:r>
            <a:endParaRPr/>
          </a:p>
        </p:txBody>
      </p:sp>
      <p:sp>
        <p:nvSpPr>
          <p:cNvPr id="229" name="Google Shape;229;p25"/>
          <p:cNvSpPr txBox="1"/>
          <p:nvPr/>
        </p:nvSpPr>
        <p:spPr>
          <a:xfrm>
            <a:off x="1666875" y="2743200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www.istockphoto.com</a:t>
            </a:r>
            <a:endParaRPr/>
          </a:p>
        </p:txBody>
      </p:sp>
      <p:pic>
        <p:nvPicPr>
          <p:cNvPr descr="image.png" id="230" name="Google Shape;230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26707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5"/>
          <p:cNvSpPr txBox="1"/>
          <p:nvPr/>
        </p:nvSpPr>
        <p:spPr>
          <a:xfrm>
            <a:off x="1666875" y="3274218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https://www.frontiersin.org/files/Articles/1551661/xml-images/frai-08-1551661-g001.webp</a:t>
            </a:r>
            <a:endParaRPr/>
          </a:p>
        </p:txBody>
      </p:sp>
      <p:sp>
        <p:nvSpPr>
          <p:cNvPr id="232" name="Google Shape;232;p25"/>
          <p:cNvSpPr txBox="1"/>
          <p:nvPr/>
        </p:nvSpPr>
        <p:spPr>
          <a:xfrm>
            <a:off x="1666875" y="3507581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www.frontiersin.org</a:t>
            </a:r>
            <a:endParaRPr/>
          </a:p>
        </p:txBody>
      </p:sp>
      <p:pic>
        <p:nvPicPr>
          <p:cNvPr descr="image.png" id="233" name="Google Shape;233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03860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5"/>
          <p:cNvSpPr txBox="1"/>
          <p:nvPr/>
        </p:nvSpPr>
        <p:spPr>
          <a:xfrm>
            <a:off x="1666875" y="4045743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https://roborear.com/wp-content/uploads/2026/03/IMG_20260311_055219989_HDR_PORTRAIT-1-scaled-e1773187236469-1024x642.jpg</a:t>
            </a:r>
            <a:endParaRPr/>
          </a:p>
        </p:txBody>
      </p:sp>
      <p:sp>
        <p:nvSpPr>
          <p:cNvPr id="235" name="Google Shape;235;p25"/>
          <p:cNvSpPr txBox="1"/>
          <p:nvPr/>
        </p:nvSpPr>
        <p:spPr>
          <a:xfrm>
            <a:off x="1666875" y="4279106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roborear.com</a:t>
            </a:r>
            <a:endParaRPr/>
          </a:p>
        </p:txBody>
      </p:sp>
      <p:pic>
        <p:nvPicPr>
          <p:cNvPr descr="image.png" id="236" name="Google Shape;236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89585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5"/>
          <p:cNvSpPr txBox="1"/>
          <p:nvPr/>
        </p:nvSpPr>
        <p:spPr>
          <a:xfrm>
            <a:off x="1666875" y="4810125"/>
            <a:ext cx="995362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https://preview.redd.it/tablet-home-assistant-users-show-us-your-dashboards-v0-bqulygdkdtid1.png?width=1958&amp;format=png&amp;auto=webp&amp;s=f9f3ae027abc85504284b08eeb442d43148c7fc5</a:t>
            </a:r>
            <a:endParaRPr/>
          </a:p>
        </p:txBody>
      </p:sp>
      <p:sp>
        <p:nvSpPr>
          <p:cNvPr id="238" name="Google Shape;238;p25"/>
          <p:cNvSpPr txBox="1"/>
          <p:nvPr/>
        </p:nvSpPr>
        <p:spPr>
          <a:xfrm>
            <a:off x="1666875" y="5229225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www.reddit.com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