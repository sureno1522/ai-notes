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CDEA22-97CC-45AF-BCEC-0911054E871F}">
  <a:tblStyle styleId="{63CDEA22-97CC-45AF-BCEC-0911054E87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oppins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7620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33475" y="2952750"/>
            <a:ext cx="692086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Smart IoT </a:t>
            </a:r>
            <a:r>
              <a:rPr b="1" i="0" lang="en-US" sz="4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Solar Load</a:t>
            </a: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Management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33475" y="4400550"/>
            <a:ext cx="659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Voltage Stabilization and Demand-Side Control for Solar-Powered Micro-Grids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33600"/>
            <a:ext cx="35178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133600"/>
            <a:ext cx="35178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133600"/>
            <a:ext cx="35178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619375" y="5200650"/>
            <a:ext cx="695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 critical gap exists for real-time edge computing to manage demand proactively.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3117" y="3124200"/>
            <a:ext cx="30736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Intermittency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3609975"/>
            <a:ext cx="2927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Unpredictable solar irradiance (cloud cover) causes severe voltage sags in localized grids.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559092" y="3124200"/>
            <a:ext cx="30736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Grid Collapse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32275" y="3609975"/>
            <a:ext cx="2927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Heavy non-essential loads cause current spikes during dips, tripping the entire system.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15068" y="3124200"/>
            <a:ext cx="30736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All-or-Nothing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8250" y="3609975"/>
            <a:ext cx="2927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Standard protection shuts down power to the entire house indiscriminately, losing essential assets.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7938" y="246697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8688" y="2466975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2276" y="24669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71525" y="58102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CRISIS OF MICRO-GRID INSTABILITY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81187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1881187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Intelligent Solution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236696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proactive IoT framework utilizes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Edge Computing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detect solar drops and segment demand within milliseconds.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90712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14400" y="3033712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Proactive Shedding: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Disconnects non-essential loads (AC, Fridge) before the crash.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369093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Critical Continuity: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Ensures essential assets (Laptops, Fans) remain powered.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4348162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Net-Zero Wastage: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Optimizes power utilization during generation fluctuations.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500538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IoT Integration: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Real-time monitoring and override via cloud dashboards.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3033712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81025" y="369093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81025" y="4348162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500538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58102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GRACEFUL DEGRADATION STRATEGY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581025" y="2171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{63CDEA22-97CC-45AF-BCEC-0911054E871F}</a:tableStyleId>
              </a:tblPr>
              <a:tblGrid>
                <a:gridCol w="1465650"/>
                <a:gridCol w="3383450"/>
                <a:gridCol w="6180825"/>
              </a:tblGrid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Technical Selection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Edge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ESP32 WROOM-32 (240MHz)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Dual-core processing, real-time sensing, &amp; IoT Wi-Fi handling.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Telemetry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ZMPT101B &amp; ACS712 Sensors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Precise AC voltage and current sensing for sag detection.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Opto-Isolated 4-Channel Relay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Safe electrical isolation &amp; dynamic household load switching.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Arduino IDE &amp; Blynk IoT v2.0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Embedded C++ priority logic and interactive cloud telemetry.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ESP-NOW Wireless Mesh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Low-latency, high-speed peer-to-peer load synchronization.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81025" y="2728912"/>
            <a:ext cx="14656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046684" y="2728912"/>
            <a:ext cx="33834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430142" y="2728912"/>
            <a:ext cx="61808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1025" y="3300412"/>
            <a:ext cx="14656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046684" y="3300412"/>
            <a:ext cx="33834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430142" y="3300412"/>
            <a:ext cx="61808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81025" y="3871912"/>
            <a:ext cx="14656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046684" y="3871912"/>
            <a:ext cx="33834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430142" y="3871912"/>
            <a:ext cx="61808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81025" y="4443412"/>
            <a:ext cx="14656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046684" y="4443412"/>
            <a:ext cx="33834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30142" y="4443412"/>
            <a:ext cx="61808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81025" y="5014912"/>
            <a:ext cx="14656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046684" y="5014912"/>
            <a:ext cx="33834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430142" y="5014912"/>
            <a:ext cx="61808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71525" y="58102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ARCHITECTURE SPECIFICATIONS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38725"/>
            <a:ext cx="11029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66925"/>
            <a:ext cx="52768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66925"/>
            <a:ext cx="52768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81050" y="5238750"/>
            <a:ext cx="10629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INNOVATION: GRANULAR GRACEFUL DEGRADATION VS WHOLESALE SHUTDOWNS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76300" y="3057525"/>
            <a:ext cx="49206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Edge Latency vs Cloud Delay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6300" y="3543300"/>
            <a:ext cx="4686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executing priority allocation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on-chip at the edge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the system responds within milliseconds, saving the grid before the current surge can trip master breakers.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29400" y="3057525"/>
            <a:ext cx="49206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Localized Cost Efficacy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29400" y="3543300"/>
            <a:ext cx="4686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Delivers industrial-grade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Demand-Side Management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a fraction of the cost, making advanced grid resilience accessible for residential micro-grids.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4003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400300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71525" y="58102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ENGINEERING NOVELTY &amp; INNOVATION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1838325" y="3114675"/>
            <a:ext cx="851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838325" y="3876675"/>
            <a:ext cx="8515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838325" y="3876675"/>
            <a:ext cx="8515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8325" y="3257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2933700" y="3264693"/>
            <a:ext cx="7419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https://roborear.com/wp-content/uploads/2026/03/IMG_20260311_055219989_HDR_PORTRAIT-1-scaled-e1773187236469-1024x642.jpg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2933700" y="3498056"/>
            <a:ext cx="7419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roborear.com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8325" y="4029075"/>
            <a:ext cx="12001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2933700" y="4036218"/>
            <a:ext cx="7419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https://www.mdpi.com/energies/energies-17-03100/article_deploy/html/images/energies-17-03100-g010.png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2933700" y="4269581"/>
            <a:ext cx="7419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71525" y="58102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